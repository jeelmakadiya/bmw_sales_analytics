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3400" b="1">
                <a:solidFill>
                  <a:srgbClr val="F5F8FF"/>
                </a:solidFill>
              </a:defRPr>
            </a:pPr>
            <a:r>
              <a:t>BMW SALES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28800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300" b="1">
                <a:solidFill>
                  <a:srgbClr val="278FF0"/>
                </a:solidFill>
              </a:defRPr>
            </a:pPr>
            <a:r>
              <a:t>Analytics Dashboard &amp;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700" b="0">
                <a:solidFill>
                  <a:srgbClr val="B9D3F2"/>
                </a:solidFill>
              </a:defRPr>
            </a:pPr>
            <a:r>
              <a:t>Dataset period: 2010–2024  |  50,000 records</a:t>
            </a:r>
          </a:p>
        </p:txBody>
      </p:sp>
      <p:pic>
        <p:nvPicPr>
          <p:cNvPr id="5" name="Picture 4" descr="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46120"/>
            <a:ext cx="10698480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73952"/>
            <a:ext cx="10058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000" b="0">
                <a:solidFill>
                  <a:srgbClr val="B9D3F2"/>
                </a:solidFill>
              </a:defRPr>
            </a:pPr>
            <a:r>
              <a:t>Prepared using Python • Pandas • Plotly •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01 |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100" b="0">
                <a:solidFill>
                  <a:srgbClr val="B9D3F2"/>
                </a:solidFill>
              </a:defRPr>
            </a:pPr>
            <a:r>
              <a:t>What is included in the supplied dataset?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560320" cy="1143000"/>
          </a:xfrm>
          <a:prstGeom prst="roundRect">
            <a:avLst/>
          </a:prstGeom>
          <a:solidFill>
            <a:srgbClr val="20283B"/>
          </a:solidFill>
          <a:ln>
            <a:solidFill>
              <a:srgbClr val="278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64208"/>
            <a:ext cx="22860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400" b="1">
                <a:solidFill>
                  <a:srgbClr val="278FF0"/>
                </a:solidFill>
              </a:defRPr>
            </a:pPr>
            <a:r>
              <a:t>50,000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286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508760"/>
            <a:ext cx="2560320" cy="1143000"/>
          </a:xfrm>
          <a:prstGeom prst="roundRect">
            <a:avLst/>
          </a:prstGeom>
          <a:solidFill>
            <a:srgbClr val="20283B"/>
          </a:solidFill>
          <a:ln>
            <a:solidFill>
              <a:srgbClr val="278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9" y="1664208"/>
            <a:ext cx="22860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400" b="1">
                <a:solidFill>
                  <a:srgbClr val="278FF0"/>
                </a:solidFill>
              </a:defRPr>
            </a:pPr>
            <a:r>
              <a:t>2010–2024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9" y="2148840"/>
            <a:ext cx="2286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year range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08760"/>
            <a:ext cx="2560320" cy="1143000"/>
          </a:xfrm>
          <a:prstGeom prst="roundRect">
            <a:avLst/>
          </a:prstGeom>
          <a:solidFill>
            <a:srgbClr val="20283B"/>
          </a:solidFill>
          <a:ln>
            <a:solidFill>
              <a:srgbClr val="278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64208"/>
            <a:ext cx="22860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400" b="1">
                <a:solidFill>
                  <a:srgbClr val="278FF0"/>
                </a:solidFill>
              </a:defRPr>
            </a:pPr>
            <a:r>
              <a:t>$75,035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48840"/>
            <a:ext cx="2286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average listed price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59" y="1508760"/>
            <a:ext cx="2560320" cy="1143000"/>
          </a:xfrm>
          <a:prstGeom prst="roundRect">
            <a:avLst/>
          </a:prstGeom>
          <a:solidFill>
            <a:srgbClr val="20283B"/>
          </a:solidFill>
          <a:ln>
            <a:solidFill>
              <a:srgbClr val="278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1664208"/>
            <a:ext cx="22860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400" b="1">
                <a:solidFill>
                  <a:srgbClr val="278FF0"/>
                </a:solidFill>
              </a:defRPr>
            </a:pPr>
            <a:r>
              <a:t>100,307 km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2148840"/>
            <a:ext cx="22860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200" b="0">
                <a:solidFill>
                  <a:srgbClr val="F5F8FF"/>
                </a:solidFill>
              </a:defRPr>
            </a:pPr>
            <a:r>
              <a:t>average mileage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5468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900" b="1">
                <a:solidFill>
                  <a:srgbClr val="F5F8FF"/>
                </a:solidFill>
              </a:defRPr>
            </a:pPr>
            <a:r>
              <a:t>Fields available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10332720" cy="1371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800" b="0">
                <a:solidFill>
                  <a:srgbClr val="B9D3F2"/>
                </a:solidFill>
              </a:defRPr>
            </a:pPr>
            <a:r>
              <a:t>Model • Year • Region • Color • Fuel Type • Transmission • Engine Size • Mileage • Price • Sales Volume • Sales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400" b="0">
                <a:solidFill>
                  <a:srgbClr val="F5F8FF"/>
                </a:solidFill>
              </a:defRPr>
            </a:pPr>
            <a:r>
              <a:t>Purpose: explore trends, compare regions and models, and understand price and fuel-type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02 | Yearly Sales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100" b="0">
                <a:solidFill>
                  <a:srgbClr val="B9D3F2"/>
                </a:solidFill>
              </a:defRPr>
            </a:pPr>
            <a:r>
              <a:t>Total sales volume grouped by year</a:t>
            </a:r>
          </a:p>
        </p:txBody>
      </p:sp>
      <p:pic>
        <p:nvPicPr>
          <p:cNvPr id="4" name="Picture 3" descr="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446520"/>
            <a:ext cx="1042416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000" b="0">
                <a:solidFill>
                  <a:srgbClr val="B9D3F2"/>
                </a:solidFill>
              </a:defRPr>
            </a:pPr>
            <a:r>
              <a:t>Use the interactive dashboard to filter years and compare the trend.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03 | Region &amp; Fuel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100" b="0">
                <a:solidFill>
                  <a:srgbClr val="B9D3F2"/>
                </a:solidFill>
              </a:defRPr>
            </a:pPr>
            <a:r>
              <a:t>Compare where recorded sales volume appears and its fuel mix</a:t>
            </a:r>
          </a:p>
        </p:txBody>
      </p:sp>
      <p:pic>
        <p:nvPicPr>
          <p:cNvPr id="4" name="Picture 3" descr="reg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852160" cy="4389120"/>
          </a:xfrm>
          <a:prstGeom prst="rect">
            <a:avLst/>
          </a:prstGeom>
        </p:spPr>
      </p:pic>
      <p:pic>
        <p:nvPicPr>
          <p:cNvPr id="5" name="Picture 4" descr="fuel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89320"/>
            <a:ext cx="107899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300" b="1">
                <a:solidFill>
                  <a:srgbClr val="B9D3F2"/>
                </a:solidFill>
              </a:defRPr>
            </a:pPr>
            <a:r>
              <a:t>Highest recorded region: Asia  |  Most represented fuel type by volume: Hybrid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04 |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100" b="0">
                <a:solidFill>
                  <a:srgbClr val="B9D3F2"/>
                </a:solidFill>
              </a:defRPr>
            </a:pPr>
            <a:r>
              <a:t>Top models by summed sales volume</a:t>
            </a:r>
          </a:p>
        </p:txBody>
      </p:sp>
      <p:pic>
        <p:nvPicPr>
          <p:cNvPr id="4" name="Picture 3" descr="mode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69848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94360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400" b="1">
                <a:solidFill>
                  <a:srgbClr val="B9D3F2"/>
                </a:solidFill>
              </a:defRPr>
            </a:pPr>
            <a:r>
              <a:t>Top model by summed sales volume in this file: 7 Series.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05 | Key Takeaways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100" b="0">
                <a:solidFill>
                  <a:srgbClr val="B9D3F2"/>
                </a:solidFill>
              </a:defRPr>
            </a:pPr>
            <a:r>
              <a:t>How to use this analysis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51560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700" b="0">
                <a:solidFill>
                  <a:srgbClr val="F5F8FF"/>
                </a:solidFill>
              </a:defRPr>
            </a:pPr>
            <a:r>
              <a:t>•  Use year and region filters to inspect differences in recorded sales volume.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51560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700" b="0">
                <a:solidFill>
                  <a:srgbClr val="F5F8FF"/>
                </a:solidFill>
              </a:defRPr>
            </a:pPr>
            <a:r>
              <a:t>•  Compare model-level volume with average price before making product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700" b="0">
                <a:solidFill>
                  <a:srgbClr val="F5F8FF"/>
                </a:solidFill>
              </a:defRPr>
            </a:pPr>
            <a:r>
              <a:t>•  Review fuel type and transmission mix to identify areas for deeper investigation.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1051560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700" b="0">
                <a:solidFill>
                  <a:srgbClr val="F5F8FF"/>
                </a:solidFill>
              </a:defRPr>
            </a:pPr>
            <a:r>
              <a:t>•  Use the scatter plot to explore whether price and sales volume appear related.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480560"/>
            <a:ext cx="1051560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700" b="0">
                <a:solidFill>
                  <a:srgbClr val="F5F8FF"/>
                </a:solidFill>
              </a:defRPr>
            </a:pPr>
            <a:r>
              <a:t>•  Next step: validate the dataset source and definitions before using results as official business facts.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9788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defRPr sz="1200" b="1">
                <a:solidFill>
                  <a:srgbClr val="B9D3F2"/>
                </a:solidFill>
              </a:defRPr>
            </a:pPr>
            <a:r>
              <a:t>Note: Findings describe only the supplied CSV; they are not verified official BMW sales figures.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